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63" r:id="rId11"/>
    <p:sldId id="278" r:id="rId12"/>
    <p:sldId id="282" r:id="rId13"/>
    <p:sldId id="283" r:id="rId14"/>
    <p:sldId id="265" r:id="rId15"/>
    <p:sldId id="279" r:id="rId16"/>
    <p:sldId id="284" r:id="rId17"/>
    <p:sldId id="285" r:id="rId18"/>
    <p:sldId id="280" r:id="rId19"/>
    <p:sldId id="270" r:id="rId20"/>
    <p:sldId id="273" r:id="rId21"/>
    <p:sldId id="286" r:id="rId22"/>
    <p:sldId id="287" r:id="rId23"/>
    <p:sldId id="288" r:id="rId24"/>
    <p:sldId id="289" r:id="rId25"/>
    <p:sldId id="281" r:id="rId26"/>
    <p:sldId id="291" r:id="rId27"/>
    <p:sldId id="290" r:id="rId28"/>
    <p:sldId id="274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8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56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22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6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89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3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9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11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4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8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9335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044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690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429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086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10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0678-7A10-4A50-A9BF-F0ED7C8AE8E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FEA491-6726-49EC-9B65-4543C07CE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28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2403F-024B-0CD6-191C-E78C2086BDF2}"/>
              </a:ext>
            </a:extLst>
          </p:cNvPr>
          <p:cNvSpPr txBox="1"/>
          <p:nvPr/>
        </p:nvSpPr>
        <p:spPr>
          <a:xfrm>
            <a:off x="487959" y="3889497"/>
            <a:ext cx="1160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effectLst/>
              </a:rPr>
              <a:t>Controller and Observer Design Using Active Disturbance Rejection Control 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292B4B-327D-2726-88C6-50B4807B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761" y="1502559"/>
            <a:ext cx="4263684" cy="2398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188E7A-FB6C-6E88-E5F2-D2DE3D8CAE6F}"/>
              </a:ext>
            </a:extLst>
          </p:cNvPr>
          <p:cNvSpPr txBox="1"/>
          <p:nvPr/>
        </p:nvSpPr>
        <p:spPr>
          <a:xfrm>
            <a:off x="1898006" y="317619"/>
            <a:ext cx="10953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FINAL YEAR PROJECT PPT PRESENTATION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B1699-2388-B738-50BE-0E0AAD5AB989}"/>
              </a:ext>
            </a:extLst>
          </p:cNvPr>
          <p:cNvSpPr txBox="1"/>
          <p:nvPr/>
        </p:nvSpPr>
        <p:spPr>
          <a:xfrm>
            <a:off x="295712" y="5355441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Group Number: </a:t>
            </a:r>
            <a:r>
              <a:rPr lang="en-IN" dirty="0"/>
              <a:t>9</a:t>
            </a:r>
          </a:p>
          <a:p>
            <a:r>
              <a:rPr lang="en-IN" b="1" dirty="0"/>
              <a:t>Group Members:</a:t>
            </a:r>
          </a:p>
          <a:p>
            <a:r>
              <a:rPr lang="en-IN" dirty="0"/>
              <a:t>Ritika Meena (20225076)  </a:t>
            </a:r>
          </a:p>
          <a:p>
            <a:r>
              <a:rPr lang="en-IN" dirty="0"/>
              <a:t>Ratan Kumar (20225074)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351F6-06AA-F6D4-4217-2420DC5D68B5}"/>
              </a:ext>
            </a:extLst>
          </p:cNvPr>
          <p:cNvSpPr txBox="1"/>
          <p:nvPr/>
        </p:nvSpPr>
        <p:spPr>
          <a:xfrm>
            <a:off x="6390314" y="5309274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Project Mentor: </a:t>
            </a:r>
            <a:r>
              <a:rPr lang="en-IN" dirty="0"/>
              <a:t>Dr. Souradip De </a:t>
            </a:r>
          </a:p>
          <a:p>
            <a:r>
              <a:rPr lang="en-IN" dirty="0"/>
              <a:t> </a:t>
            </a:r>
            <a:r>
              <a:rPr lang="en-IN" b="1" dirty="0"/>
              <a:t>Department: </a:t>
            </a:r>
            <a:r>
              <a:rPr lang="en-IN" dirty="0"/>
              <a:t>Electrical Engineering, MNNIT Allahabad</a:t>
            </a:r>
          </a:p>
        </p:txBody>
      </p:sp>
    </p:spTree>
    <p:extLst>
      <p:ext uri="{BB962C8B-B14F-4D97-AF65-F5344CB8AC3E}">
        <p14:creationId xmlns:p14="http://schemas.microsoft.com/office/powerpoint/2010/main" val="198611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071F-09D5-D419-11B3-16AFC964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D1E62E-78B5-3F95-0EA2-3A6B227B3A8B}"/>
              </a:ext>
            </a:extLst>
          </p:cNvPr>
          <p:cNvSpPr txBox="1"/>
          <p:nvPr/>
        </p:nvSpPr>
        <p:spPr>
          <a:xfrm>
            <a:off x="924887" y="120402"/>
            <a:ext cx="5817066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Table of Contents </a:t>
            </a:r>
          </a:p>
          <a:p>
            <a:endParaRPr lang="en-IN" sz="3200" b="1" dirty="0"/>
          </a:p>
          <a:p>
            <a:r>
              <a:rPr lang="en-IN" dirty="0"/>
              <a:t>1.</a:t>
            </a:r>
            <a:r>
              <a:rPr lang="en-IN" b="1" dirty="0"/>
              <a:t>Introduction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2.</a:t>
            </a:r>
            <a:r>
              <a:rPr lang="en-IN" b="1" dirty="0"/>
              <a:t>Luenberger Observer</a:t>
            </a:r>
          </a:p>
          <a:p>
            <a:r>
              <a:rPr lang="en-IN" b="1" dirty="0"/>
              <a:t> </a:t>
            </a:r>
          </a:p>
          <a:p>
            <a:r>
              <a:rPr lang="en-IN" dirty="0"/>
              <a:t>3.</a:t>
            </a:r>
            <a:r>
              <a:rPr lang="en-IN" b="1" dirty="0"/>
              <a:t>Importance of Disturbance Rejection</a:t>
            </a:r>
          </a:p>
          <a:p>
            <a:r>
              <a:rPr lang="en-IN" b="1" dirty="0"/>
              <a:t>  </a:t>
            </a:r>
          </a:p>
          <a:p>
            <a:r>
              <a:rPr lang="en-IN" b="1" dirty="0"/>
              <a:t>4.Different DOB Techniques </a:t>
            </a:r>
          </a:p>
          <a:p>
            <a:endParaRPr lang="en-IN" b="1" dirty="0"/>
          </a:p>
          <a:p>
            <a:r>
              <a:rPr lang="en-IN" b="1" dirty="0"/>
              <a:t>5.Active Disturbance Rejection Control (ADRC)</a:t>
            </a:r>
          </a:p>
          <a:p>
            <a:r>
              <a:rPr lang="en-IN" b="1" dirty="0"/>
              <a:t>  </a:t>
            </a:r>
          </a:p>
          <a:p>
            <a:r>
              <a:rPr lang="en-IN" b="1" dirty="0"/>
              <a:t>6.ADRC Explanation &amp; Block Diagram</a:t>
            </a:r>
          </a:p>
          <a:p>
            <a:endParaRPr lang="en-IN" b="1" dirty="0"/>
          </a:p>
          <a:p>
            <a:r>
              <a:rPr lang="en-IN" b="1" dirty="0"/>
              <a:t>7.Temperature Control System </a:t>
            </a:r>
          </a:p>
          <a:p>
            <a:endParaRPr lang="en-IN" b="1" dirty="0"/>
          </a:p>
          <a:p>
            <a:r>
              <a:rPr lang="en-IN" b="1" dirty="0"/>
              <a:t>8.Buck Converter </a:t>
            </a:r>
          </a:p>
          <a:p>
            <a:endParaRPr lang="en-IN" b="1" dirty="0"/>
          </a:p>
          <a:p>
            <a:r>
              <a:rPr lang="en-IN" b="1" dirty="0"/>
              <a:t>9.SEPIC Converter </a:t>
            </a:r>
          </a:p>
          <a:p>
            <a:endParaRPr lang="en-IN" b="1" dirty="0"/>
          </a:p>
          <a:p>
            <a:r>
              <a:rPr lang="en-IN" b="1" dirty="0"/>
              <a:t>10.Future Plans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9591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5D3A-0CF8-1C00-8380-03C65418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7B9E6-4F0A-BF34-90FD-91E62D520579}"/>
              </a:ext>
            </a:extLst>
          </p:cNvPr>
          <p:cNvSpPr txBox="1"/>
          <p:nvPr/>
        </p:nvSpPr>
        <p:spPr>
          <a:xfrm>
            <a:off x="-73152" y="0"/>
            <a:ext cx="7552944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endParaRPr lang="en-IN" sz="32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in Control Systems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systems face model uncertainties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unknown external disturbances. 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factors degrade performance,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cause steady-state errors, and can lead to instability.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Traditional Control: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like PID and LQR rely heavily on an accurate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 model of the plant.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significantly deteriorates when the real system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deviates from the model.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Our Objective: 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 robust observer-based control framework for effective  disturbance estimation  and rejection.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minimizing dependency on a precise plant model.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Systems:  1.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Control (First-Order System)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DC-DC Buck Converter (Second-Order System)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3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.sepic converter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48652A-AD76-BFBC-F8D4-045E302FB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41" y="0"/>
            <a:ext cx="5895559" cy="46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6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819C6-C005-3651-37DC-C6BAA551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DFC905-C458-9F8A-0CDE-FDDC1D6C5AA1}"/>
              </a:ext>
            </a:extLst>
          </p:cNvPr>
          <p:cNvSpPr txBox="1"/>
          <p:nvPr/>
        </p:nvSpPr>
        <p:spPr>
          <a:xfrm>
            <a:off x="822135" y="81087"/>
            <a:ext cx="11992482" cy="97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IN" sz="3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Luenberger</a:t>
            </a:r>
            <a:r>
              <a:rPr lang="en-IN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Observer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Core Idea: 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Estimate the internal </a:t>
            </a:r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states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of a system using only its </a:t>
            </a:r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outputs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and </a:t>
            </a:r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inputs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063B6-E69B-A431-2A22-4BFD01CE7E9B}"/>
                  </a:ext>
                </a:extLst>
              </p:cNvPr>
              <p:cNvSpPr txBox="1"/>
              <p:nvPr/>
            </p:nvSpPr>
            <p:spPr>
              <a:xfrm>
                <a:off x="1266738" y="1914951"/>
                <a:ext cx="632529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𝐵𝑈</m:t>
                      </m:r>
                    </m:oMath>
                  </m:oMathPara>
                </a14:m>
                <a:endParaRPr lang="en-I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2063B6-E69B-A431-2A22-4BFD01CE7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738" y="1914951"/>
                <a:ext cx="632529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D48087-E761-CB68-85CA-A430A3F2E01D}"/>
                  </a:ext>
                </a:extLst>
              </p:cNvPr>
              <p:cNvSpPr txBox="1"/>
              <p:nvPr/>
            </p:nvSpPr>
            <p:spPr>
              <a:xfrm>
                <a:off x="3984468" y="2299671"/>
                <a:ext cx="7723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D48087-E761-CB68-85CA-A430A3F2E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468" y="2299671"/>
                <a:ext cx="772391" cy="276999"/>
              </a:xfrm>
              <a:prstGeom prst="rect">
                <a:avLst/>
              </a:prstGeom>
              <a:blipFill>
                <a:blip r:embed="rId3"/>
                <a:stretch>
                  <a:fillRect l="-6349" r="-5556" b="-26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E5AB3A5-536E-ECE5-4B79-CD5FB884FCB3}"/>
              </a:ext>
            </a:extLst>
          </p:cNvPr>
          <p:cNvSpPr txBox="1"/>
          <p:nvPr/>
        </p:nvSpPr>
        <p:spPr>
          <a:xfrm>
            <a:off x="656718" y="1191647"/>
            <a:ext cx="8445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Luenberger</a:t>
            </a:r>
            <a:r>
              <a:rPr lang="en-IN" dirty="0"/>
              <a:t> observer provides a systematic approach for state estimation in linear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lang="en-IN" dirty="0"/>
              <a:t>. For a linear time-invariant system: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AB549-1AE3-F6AA-B61C-B1A26B955A81}"/>
                  </a:ext>
                </a:extLst>
              </p:cNvPr>
              <p:cNvSpPr txBox="1"/>
              <p:nvPr/>
            </p:nvSpPr>
            <p:spPr>
              <a:xfrm>
                <a:off x="545286" y="2638224"/>
                <a:ext cx="86658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dirty="0"/>
                  <a:t>is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n-IN" dirty="0"/>
                  <a:t> state vector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IN" dirty="0"/>
                  <a:t>is the input, and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the output.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AB549-1AE3-F6AA-B61C-B1A26B955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86" y="2638224"/>
                <a:ext cx="8665826" cy="369332"/>
              </a:xfrm>
              <a:prstGeom prst="rect">
                <a:avLst/>
              </a:prstGeom>
              <a:blipFill>
                <a:blip r:embed="rId4"/>
                <a:stretch>
                  <a:fillRect l="-563" t="-11667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38B7FD-CA18-1FCC-3E2E-089CF56C6F7A}"/>
                  </a:ext>
                </a:extLst>
              </p:cNvPr>
              <p:cNvSpPr txBox="1"/>
              <p:nvPr/>
            </p:nvSpPr>
            <p:spPr>
              <a:xfrm>
                <a:off x="343949" y="3236320"/>
                <a:ext cx="8665826" cy="1494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Observer Structure :  </a:t>
                </a:r>
                <a:r>
                  <a:rPr lang="en-IN" dirty="0"/>
                  <a:t>The </a:t>
                </a:r>
                <a:r>
                  <a:rPr lang="en-IN" dirty="0" err="1"/>
                  <a:t>Luenberger</a:t>
                </a:r>
                <a:r>
                  <a:rPr lang="en-IN" dirty="0"/>
                  <a:t> observer is constructed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I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err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𝐵𝑢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̂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                                                    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C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the estimated state and L is the observer gain matrix.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838B7FD-CA18-1FCC-3E2E-089CF56C6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49" y="3236320"/>
                <a:ext cx="8665826" cy="1494705"/>
              </a:xfrm>
              <a:prstGeom prst="rect">
                <a:avLst/>
              </a:prstGeom>
              <a:blipFill>
                <a:blip r:embed="rId5"/>
                <a:stretch>
                  <a:fillRect l="-563" t="-2857" b="-53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E4D80C-7EF1-9AAB-8A3C-9A8F574EFC2B}"/>
                  </a:ext>
                </a:extLst>
              </p:cNvPr>
              <p:cNvSpPr txBox="1"/>
              <p:nvPr/>
            </p:nvSpPr>
            <p:spPr>
              <a:xfrm>
                <a:off x="299698" y="4793875"/>
                <a:ext cx="1042143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Error Dynamics : </a:t>
                </a:r>
              </a:p>
              <a:p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estimation error  e =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−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evolves according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        </m:t>
                      </m:r>
                      <m:acc>
                        <m:accPr>
                          <m:chr m:val="̇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</m:acc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 (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−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𝐿𝐶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  <m:r>
                        <a:rPr lang="en-IN" dirty="0" smtClean="0">
                          <a:latin typeface="Cambria Math" panose="02040503050406030204" pitchFamily="18" charset="0"/>
                        </a:rPr>
                        <m:t>ⅇ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en-I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observer gain </a:t>
                </a:r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designed such that </a:t>
                </a:r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(A−LC) 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Hurwitz (all eigen values have negative real parts), ensuring exponential convergence of the estimation error to zero.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E4D80C-7EF1-9AAB-8A3C-9A8F574EF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98" y="4793875"/>
                <a:ext cx="10421432" cy="1477328"/>
              </a:xfrm>
              <a:prstGeom prst="rect">
                <a:avLst/>
              </a:prstGeom>
              <a:blipFill>
                <a:blip r:embed="rId6"/>
                <a:stretch>
                  <a:fillRect l="-468" t="-2058" r="-819" b="-5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21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02E4-B0E8-2BD8-3966-39DAFE92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6F395D-4D4E-454D-D936-37C39B749385}"/>
              </a:ext>
            </a:extLst>
          </p:cNvPr>
          <p:cNvSpPr txBox="1"/>
          <p:nvPr/>
        </p:nvSpPr>
        <p:spPr>
          <a:xfrm>
            <a:off x="725647" y="220681"/>
            <a:ext cx="9341141" cy="641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Disturbance Rejection is Important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Disturbances: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1.External: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Load changes, ambient variations, measurement noise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2.Internal: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Parameter drift, unmodeled dynamics, nonlinearities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3.Structured: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Known form but unknown magnitude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4.Unstructured:</a:t>
            </a: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Completely unknown characteristics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Impact: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1.Degrades performance &amp; accuracy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2.Causes steady-state errors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3.Can lead to instability</a:t>
            </a:r>
          </a:p>
          <a:p>
            <a:pPr algn="l">
              <a:spcBef>
                <a:spcPts val="1200"/>
              </a:spcBef>
              <a:buNone/>
            </a:pP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Goal:</a:t>
            </a:r>
            <a:b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performance and stability 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these unknowns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69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6AE0-5A58-4726-54A4-06F2CAFD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02D3EC-03DA-770B-DF29-3A48195E283D}"/>
              </a:ext>
            </a:extLst>
          </p:cNvPr>
          <p:cNvSpPr txBox="1"/>
          <p:nvPr/>
        </p:nvSpPr>
        <p:spPr>
          <a:xfrm>
            <a:off x="759334" y="0"/>
            <a:ext cx="8055482" cy="7712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3200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Disturbance</a:t>
            </a:r>
            <a:r>
              <a:rPr lang="en-US" sz="3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Observer (DOB) Techniques</a:t>
            </a: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DOB: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inverse of nominal plant model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but sensitive to model inaccuracies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relatively accurate system model</a:t>
            </a: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Extended State Observer (ESO):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of ADRC approach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Treats total disturbance as an extended state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Estimates both system states AND disturbances simultaneously</a:t>
            </a: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Advantage of ESO: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Doesn't need precise plant model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requires approximate input gain </a:t>
            </a:r>
            <a:r>
              <a:rPr lang="en-US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b₀</a:t>
            </a:r>
            <a:endParaRPr lang="en-US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robust to model uncertainties</a:t>
            </a:r>
          </a:p>
          <a:p>
            <a:pPr>
              <a:buNone/>
            </a:pPr>
            <a:br>
              <a:rPr lang="en-US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83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D36FF-DA95-E1D6-232E-97F4A10C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ACEF8E-4313-9852-6F10-AF96ED750ECB}"/>
              </a:ext>
            </a:extLst>
          </p:cNvPr>
          <p:cNvSpPr txBox="1"/>
          <p:nvPr/>
        </p:nvSpPr>
        <p:spPr>
          <a:xfrm>
            <a:off x="102637" y="101166"/>
            <a:ext cx="11706808" cy="6655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Active Disturbance Rejection Control (ADRC)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Core Philosophy:</a:t>
            </a:r>
            <a:b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"Forget the detailed model - just estimate and cancel the total disturbance in real-time"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Three Key Components:</a:t>
            </a:r>
            <a:endParaRPr lang="en-US" b="0" i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Tracking Differentiator (TD)</a:t>
            </a:r>
            <a:endParaRPr lang="en-US" b="0" i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Provides smooth reference signal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Avoids setpoint jumps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Extended State Observer (ESO)</a:t>
            </a:r>
            <a:endParaRPr lang="en-US" b="0" i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Estimates system states + total disturbance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Heart of the ADRC approach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Nonlinear State Error Feedback</a:t>
            </a:r>
            <a:endParaRPr lang="en-US" b="0" i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Generates control signal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Often simplified to linear PD controller</a:t>
            </a:r>
          </a:p>
          <a:p>
            <a:pPr algn="l">
              <a:spcBef>
                <a:spcPts val="1200"/>
              </a:spcBef>
              <a:buNone/>
            </a:pPr>
            <a:r>
              <a:rPr lang="en-US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Our Focus: </a:t>
            </a:r>
            <a:r>
              <a:rPr lang="en-US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Linear ADRC variant for practical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4780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6A7B-4DDD-6B9C-40F3-E127F3C3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5B3055-494F-9F77-34F5-3E1D8F6F5320}"/>
                  </a:ext>
                </a:extLst>
              </p:cNvPr>
              <p:cNvSpPr txBox="1"/>
              <p:nvPr/>
            </p:nvSpPr>
            <p:spPr>
              <a:xfrm>
                <a:off x="-794204" y="1585899"/>
                <a:ext cx="64888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5B3055-494F-9F77-34F5-3E1D8F6F5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4204" y="1585899"/>
                <a:ext cx="6488884" cy="369332"/>
              </a:xfrm>
              <a:prstGeom prst="rect">
                <a:avLst/>
              </a:prstGeom>
              <a:blipFill>
                <a:blip r:embed="rId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A11CA8-9667-3684-709B-CEB21C4BB368}"/>
                  </a:ext>
                </a:extLst>
              </p:cNvPr>
              <p:cNvSpPr txBox="1"/>
              <p:nvPr/>
            </p:nvSpPr>
            <p:spPr>
              <a:xfrm>
                <a:off x="-2322763" y="1589327"/>
                <a:ext cx="66903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A11CA8-9667-3684-709B-CEB21C4B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22763" y="1589327"/>
                <a:ext cx="6690307" cy="369332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4B69BA-66DE-8128-9BD4-616B7B37D00A}"/>
                  </a:ext>
                </a:extLst>
              </p:cNvPr>
              <p:cNvSpPr txBox="1"/>
              <p:nvPr/>
            </p:nvSpPr>
            <p:spPr>
              <a:xfrm>
                <a:off x="1132433" y="3500814"/>
                <a:ext cx="2086661" cy="636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4B69BA-66DE-8128-9BD4-616B7B37D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433" y="3500814"/>
                <a:ext cx="2086661" cy="6368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894C55-F710-874E-2D60-A1E57FE438A0}"/>
              </a:ext>
            </a:extLst>
          </p:cNvPr>
          <p:cNvSpPr txBox="1"/>
          <p:nvPr/>
        </p:nvSpPr>
        <p:spPr>
          <a:xfrm>
            <a:off x="324307" y="390563"/>
            <a:ext cx="7701280" cy="421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IN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ADRC</a:t>
            </a:r>
            <a:r>
              <a:rPr lang="en-IN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Explanation &amp; Block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AA476-C42D-461D-599D-AA28F5ED514E}"/>
              </a:ext>
            </a:extLst>
          </p:cNvPr>
          <p:cNvSpPr txBox="1"/>
          <p:nvPr/>
        </p:nvSpPr>
        <p:spPr>
          <a:xfrm>
            <a:off x="375194" y="1194174"/>
            <a:ext cx="770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Simplified Plant Model: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469D8-F419-E76D-D3B3-7D5F49F8BA1A}"/>
              </a:ext>
            </a:extLst>
          </p:cNvPr>
          <p:cNvSpPr txBox="1"/>
          <p:nvPr/>
        </p:nvSpPr>
        <p:spPr>
          <a:xfrm>
            <a:off x="375194" y="2092358"/>
            <a:ext cx="7625080" cy="86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f(t): 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Total Disturbance (all uncertainties)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b₀</a:t>
            </a:r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Approximate input gain (only parameter needed)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514FC-4B50-1666-5E04-9150BBFE0983}"/>
              </a:ext>
            </a:extLst>
          </p:cNvPr>
          <p:cNvSpPr txBox="1"/>
          <p:nvPr/>
        </p:nvSpPr>
        <p:spPr>
          <a:xfrm>
            <a:off x="375194" y="3071728"/>
            <a:ext cx="762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</a:t>
            </a:r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Law: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CE816-C9E5-CE46-72BF-D978D455BA09}"/>
              </a:ext>
            </a:extLst>
          </p:cNvPr>
          <p:cNvSpPr txBox="1"/>
          <p:nvPr/>
        </p:nvSpPr>
        <p:spPr>
          <a:xfrm>
            <a:off x="170389" y="4282901"/>
            <a:ext cx="7233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Actively cancels disturbances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Transforms plant to pure integrator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049523-6ECD-3016-F8F4-9C997275F32D}"/>
              </a:ext>
            </a:extLst>
          </p:cNvPr>
          <p:cNvSpPr txBox="1"/>
          <p:nvPr/>
        </p:nvSpPr>
        <p:spPr>
          <a:xfrm>
            <a:off x="208489" y="5553653"/>
            <a:ext cx="715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en-IN" b="1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Result:</a:t>
            </a:r>
            <a:r>
              <a:rPr lang="en-IN" b="0" i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Robust control with minimal modelling effort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19CD7-40AA-05AB-119F-C205FE0E5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169" y="3084493"/>
            <a:ext cx="8105426" cy="29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3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F7DE-D7B4-1F60-FD91-8D11BD4E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DAF5E-EA9F-429D-A005-9E15CBD7E0D3}"/>
              </a:ext>
            </a:extLst>
          </p:cNvPr>
          <p:cNvSpPr txBox="1"/>
          <p:nvPr/>
        </p:nvSpPr>
        <p:spPr>
          <a:xfrm>
            <a:off x="705628" y="0"/>
            <a:ext cx="10500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Problem 1 – Temperature Control System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7EEC1-952B-0876-F263-801B397CD0AB}"/>
              </a:ext>
            </a:extLst>
          </p:cNvPr>
          <p:cNvSpPr txBox="1"/>
          <p:nvPr/>
        </p:nvSpPr>
        <p:spPr>
          <a:xfrm>
            <a:off x="705628" y="713798"/>
            <a:ext cx="8916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dirty="0"/>
              <a:t> heat transfer system is a slow first-order thermal process used to validate ADRC on a disturbance-dominant plant.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E9EE8-D5DA-D5F6-A2E2-1CBE7C9E56E9}"/>
                  </a:ext>
                </a:extLst>
              </p:cNvPr>
              <p:cNvSpPr txBox="1"/>
              <p:nvPr/>
            </p:nvSpPr>
            <p:spPr>
              <a:xfrm>
                <a:off x="544470" y="1360129"/>
                <a:ext cx="11412638" cy="6262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 </a:t>
                </a:r>
                <a:r>
                  <a:rPr lang="en-IN" sz="2400" b="1" u="sng" dirty="0"/>
                  <a:t>Energy Balance Principle</a:t>
                </a:r>
              </a:p>
              <a:p>
                <a:r>
                  <a:rPr lang="en-IN" dirty="0"/>
                  <a:t>The rate of </a:t>
                </a:r>
                <a:r>
                  <a:rPr lang="en-IN" b="1" dirty="0"/>
                  <a:t>heat stored</a:t>
                </a:r>
                <a:r>
                  <a:rPr lang="en-IN" dirty="0"/>
                  <a:t> in the object = </a:t>
                </a:r>
                <a:r>
                  <a:rPr lang="en-IN" b="1" dirty="0"/>
                  <a:t>Heat supplied – Heat lost</a:t>
                </a:r>
              </a:p>
              <a:p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𝜗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𝑐𝑜𝑛𝑣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𝑟𝑎𝑑</m:t>
                          </m:r>
                        </m:sub>
                      </m:sSub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Here: </a:t>
                </a:r>
              </a:p>
              <a:p>
                <a:r>
                  <a:rPr lang="en-IN" b="1" dirty="0"/>
                  <a:t>1. Convection Loss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𝑐𝑜𝑛𝑣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𝐴𝑈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𝜗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2. Radiation Loss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𝑟𝑎𝑑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ar-AE" b="0" dirty="0"/>
              </a:p>
              <a:p>
                <a:r>
                  <a:rPr lang="en-IN" b="1" dirty="0"/>
                  <a:t>Where:</a:t>
                </a:r>
                <a:endParaRPr lang="en-IN" dirty="0"/>
              </a:p>
              <a:p>
                <a:r>
                  <a:rPr lang="en-IN" dirty="0"/>
                  <a:t>Mass (m = 10 kg)</a:t>
                </a:r>
              </a:p>
              <a:p>
                <a:r>
                  <a:rPr lang="en-US" dirty="0"/>
                  <a:t>Specific Heat Capacity (cp = 1000 J/</a:t>
                </a:r>
                <a:r>
                  <a:rPr lang="en-US" dirty="0" err="1"/>
                  <a:t>kgK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Surface Area (A = 2 m²)</a:t>
                </a:r>
              </a:p>
              <a:p>
                <a:r>
                  <a:rPr lang="it-IT" dirty="0"/>
                  <a:t>Stefan–Boltzmann Constant (σ = 5.67e-8)</a:t>
                </a:r>
              </a:p>
              <a:p>
                <a:r>
                  <a:rPr lang="en-IN" dirty="0"/>
                  <a:t>Emissivity (</a:t>
                </a:r>
                <a:r>
                  <a:rPr lang="el-GR" dirty="0"/>
                  <a:t>ε = 0.9)</a:t>
                </a:r>
                <a:endParaRPr lang="en-IN" dirty="0"/>
              </a:p>
              <a:p>
                <a:r>
                  <a:rPr lang="en-US" dirty="0"/>
                  <a:t>Heat Transfer Coefficient (U = 5 W/m²·K)</a:t>
                </a:r>
                <a:endParaRPr lang="en-IN" dirty="0"/>
              </a:p>
              <a:p>
                <a:r>
                  <a:rPr lang="en-IN" dirty="0"/>
                  <a:t>These values are taken for validating the process (object can be industrial plates, process chambers etc)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7E9EE8-D5DA-D5F6-A2E2-1CBE7C9E5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70" y="1360129"/>
                <a:ext cx="11412638" cy="6262164"/>
              </a:xfrm>
              <a:prstGeom prst="rect">
                <a:avLst/>
              </a:prstGeom>
              <a:blipFill>
                <a:blip r:embed="rId2"/>
                <a:stretch>
                  <a:fillRect l="-427" t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37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7729-81FF-C96E-76B4-7D16DB4B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2FB74D-1806-C3D5-28A0-9729AA8B2FD6}"/>
                  </a:ext>
                </a:extLst>
              </p:cNvPr>
              <p:cNvSpPr txBox="1"/>
              <p:nvPr/>
            </p:nvSpPr>
            <p:spPr>
              <a:xfrm>
                <a:off x="-859871" y="688933"/>
                <a:ext cx="6098796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/>
                        <m:t> 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𝜗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2FB74D-1806-C3D5-28A0-9729AA8B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9871" y="688933"/>
                <a:ext cx="6098796" cy="6298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204D86-7540-5AB8-68AA-2E2DE9170BA5}"/>
                  </a:ext>
                </a:extLst>
              </p:cNvPr>
              <p:cNvSpPr txBox="1"/>
              <p:nvPr/>
            </p:nvSpPr>
            <p:spPr>
              <a:xfrm>
                <a:off x="155195" y="770149"/>
                <a:ext cx="6098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204D86-7540-5AB8-68AA-2E2DE9170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95" y="770149"/>
                <a:ext cx="6098796" cy="369332"/>
              </a:xfrm>
              <a:prstGeom prst="rect">
                <a:avLst/>
              </a:prstGeom>
              <a:blipFill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E04F5B-CDEB-AA7C-26E0-FAC8DC78C4D4}"/>
                  </a:ext>
                </a:extLst>
              </p:cNvPr>
              <p:cNvSpPr txBox="1"/>
              <p:nvPr/>
            </p:nvSpPr>
            <p:spPr>
              <a:xfrm>
                <a:off x="1077982" y="759425"/>
                <a:ext cx="6098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smtClean="0">
                          <a:latin typeface="Cambria Math" panose="02040503050406030204" pitchFamily="18" charset="0"/>
                        </a:rPr>
                        <m:t>𝐴𝑈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E04F5B-CDEB-AA7C-26E0-FAC8DC78C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982" y="759425"/>
                <a:ext cx="60987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0226BF-D0C9-9942-38AA-9E6C13AA8A70}"/>
                  </a:ext>
                </a:extLst>
              </p:cNvPr>
              <p:cNvSpPr txBox="1"/>
              <p:nvPr/>
            </p:nvSpPr>
            <p:spPr>
              <a:xfrm>
                <a:off x="2650921" y="748701"/>
                <a:ext cx="6098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𝜖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0226BF-D0C9-9942-38AA-9E6C13AA8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921" y="748701"/>
                <a:ext cx="609879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52D7E4E-7755-236D-B47F-4BF632CD6CB0}"/>
              </a:ext>
            </a:extLst>
          </p:cNvPr>
          <p:cNvSpPr txBox="1"/>
          <p:nvPr/>
        </p:nvSpPr>
        <p:spPr>
          <a:xfrm>
            <a:off x="954247" y="319601"/>
            <a:ext cx="6555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  <a:r>
              <a:rPr lang="en-IN" sz="1800" b="1" u="sng" dirty="0"/>
              <a:t>Energy Balance equation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22BF96D-6350-7998-480A-6E5626F8C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91" y="1914484"/>
            <a:ext cx="7517222" cy="11862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486FBA4-BB6F-AECE-C4B5-E2948AF2AA1F}"/>
              </a:ext>
            </a:extLst>
          </p:cNvPr>
          <p:cNvSpPr txBox="1"/>
          <p:nvPr/>
        </p:nvSpPr>
        <p:spPr>
          <a:xfrm>
            <a:off x="845191" y="1485384"/>
            <a:ext cx="6526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Equation can be written as -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A62F54-8E69-F1C2-B992-8265FE1098E2}"/>
                  </a:ext>
                </a:extLst>
              </p:cNvPr>
              <p:cNvSpPr txBox="1"/>
              <p:nvPr/>
            </p:nvSpPr>
            <p:spPr>
              <a:xfrm>
                <a:off x="487960" y="3059568"/>
                <a:ext cx="11367082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Control</a:t>
                </a:r>
                <a:r>
                  <a:rPr lang="en-IN" sz="2400" b="1" u="sng" dirty="0"/>
                  <a:t> System Representation </a:t>
                </a:r>
              </a:p>
              <a:p>
                <a:r>
                  <a:rPr lang="en-IN" dirty="0"/>
                  <a:t>The original heat balance equation is </a:t>
                </a:r>
                <a:r>
                  <a:rPr lang="en-IN" b="1" dirty="0"/>
                  <a:t>nonlinear</a:t>
                </a:r>
                <a:r>
                  <a:rPr lang="en-IN" dirty="0"/>
                  <a:t> and contains </a:t>
                </a:r>
                <a:r>
                  <a:rPr lang="en-IN" b="1" dirty="0"/>
                  <a:t>uncertainties(</a:t>
                </a:r>
                <a:r>
                  <a:rPr lang="en-IN" dirty="0"/>
                  <a:t>radiation</a:t>
                </a:r>
                <a:r>
                  <a:rPr lang="en-IN" b="1" dirty="0"/>
                  <a:t> etc)</a:t>
                </a:r>
                <a:endParaRPr lang="en-IN" dirty="0"/>
              </a:p>
              <a:p>
                <a:r>
                  <a:rPr lang="en-IN" dirty="0"/>
                  <a:t>For control design, we need a </a:t>
                </a:r>
                <a:r>
                  <a:rPr lang="en-IN" b="1" dirty="0"/>
                  <a:t>simpler, linear-like structure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This motivates the </a:t>
                </a:r>
                <a:r>
                  <a:rPr lang="en-IN" b="1" dirty="0"/>
                  <a:t>control system representation</a:t>
                </a:r>
                <a:r>
                  <a:rPr lang="en-IN" dirty="0"/>
                  <a:t> using a virtual disturbance and input gain.</a:t>
                </a:r>
              </a:p>
              <a:p>
                <a:endParaRPr lang="en-IN" sz="1200" b="1" dirty="0"/>
              </a:p>
              <a:p>
                <a:r>
                  <a:rPr lang="en-IN" b="1" u="sng" dirty="0"/>
                  <a:t> Simplified Model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A62F54-8E69-F1C2-B992-8265FE109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0" y="3059568"/>
                <a:ext cx="11367082" cy="2031325"/>
              </a:xfrm>
              <a:prstGeom prst="rect">
                <a:avLst/>
              </a:prstGeom>
              <a:blipFill>
                <a:blip r:embed="rId7"/>
                <a:stretch>
                  <a:fillRect l="-804" t="-2402" b="-18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439BA0-672D-D372-8C19-4AF9664909AB}"/>
                  </a:ext>
                </a:extLst>
              </p:cNvPr>
              <p:cNvSpPr txBox="1"/>
              <p:nvPr/>
            </p:nvSpPr>
            <p:spPr>
              <a:xfrm>
                <a:off x="487960" y="5241014"/>
                <a:ext cx="655599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In control-system terminology: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is the </a:t>
                </a:r>
                <a:r>
                  <a:rPr lang="en-IN" b="1" dirty="0"/>
                  <a:t>controlled variable</a:t>
                </a:r>
                <a:r>
                  <a:rPr lang="en-IN" dirty="0"/>
                  <a:t> (temperature)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is the </a:t>
                </a:r>
                <a:r>
                  <a:rPr lang="en-IN" b="1" dirty="0"/>
                  <a:t>manipulated variable</a:t>
                </a:r>
                <a:r>
                  <a:rPr lang="en-IN" dirty="0"/>
                  <a:t> (heater power)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IN" dirty="0"/>
                  <a:t>is the </a:t>
                </a:r>
                <a:r>
                  <a:rPr lang="en-IN" b="1" dirty="0"/>
                  <a:t>ambient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temperature</a:t>
                </a:r>
                <a:r>
                  <a:rPr lang="en-IN" dirty="0"/>
                  <a:t>, acting as a disturbance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dirty="0"/>
                  <a:t>combines </a:t>
                </a:r>
                <a:r>
                  <a:rPr lang="en-IN" b="1" dirty="0"/>
                  <a:t>all unknown and uncertain effects</a:t>
                </a:r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7439BA0-672D-D372-8C19-4AF96649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0" y="5241014"/>
                <a:ext cx="6555996" cy="1477328"/>
              </a:xfrm>
              <a:prstGeom prst="rect">
                <a:avLst/>
              </a:prstGeom>
              <a:blipFill>
                <a:blip r:embed="rId8"/>
                <a:stretch>
                  <a:fillRect l="-743" t="-2893" b="-53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19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3CDF-1043-8FCF-8B82-0C833227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A87B4E-8DEC-0D35-6D04-8FEC36BB8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41" y="560560"/>
            <a:ext cx="5134692" cy="1114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3F3601-159E-9E94-6AD7-45F882B6715E}"/>
                  </a:ext>
                </a:extLst>
              </p:cNvPr>
              <p:cNvSpPr txBox="1"/>
              <p:nvPr/>
            </p:nvSpPr>
            <p:spPr>
              <a:xfrm>
                <a:off x="-504037" y="1655080"/>
                <a:ext cx="60987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·</m:t>
                      </m:r>
                      <m:acc>
                        <m:accPr>
                          <m:chr m:val="̇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3F3601-159E-9E94-6AD7-45F882B6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4037" y="1655080"/>
                <a:ext cx="6098796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CB6EDC-9881-8718-59EB-CBC4641C8709}"/>
                  </a:ext>
                </a:extLst>
              </p:cNvPr>
              <p:cNvSpPr txBox="1"/>
              <p:nvPr/>
            </p:nvSpPr>
            <p:spPr>
              <a:xfrm>
                <a:off x="-827014" y="2123330"/>
                <a:ext cx="60987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/>
                  <a:t>                      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CB6EDC-9881-8718-59EB-CBC4641C8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7014" y="2123330"/>
                <a:ext cx="609879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893AD-14D9-7240-9CE9-ED3281B1C92E}"/>
                  </a:ext>
                </a:extLst>
              </p:cNvPr>
              <p:cNvSpPr txBox="1"/>
              <p:nvPr/>
            </p:nvSpPr>
            <p:spPr>
              <a:xfrm>
                <a:off x="0" y="3644513"/>
                <a:ext cx="627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𝐼𝑛𝑝𝑢𝑡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𝑔𝑎𝑖𝑛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𝐴𝐷𝑅𝐶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893AD-14D9-7240-9CE9-ED3281B1C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44513"/>
                <a:ext cx="6279160" cy="369332"/>
              </a:xfrm>
              <a:prstGeom prst="rect">
                <a:avLst/>
              </a:prstGeom>
              <a:blipFill>
                <a:blip r:embed="rId5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19B59-CC2B-6695-0B29-8BEAF4F9C840}"/>
                  </a:ext>
                </a:extLst>
              </p:cNvPr>
              <p:cNvSpPr txBox="1"/>
              <p:nvPr/>
            </p:nvSpPr>
            <p:spPr>
              <a:xfrm>
                <a:off x="-504037" y="2930457"/>
                <a:ext cx="627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 ;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𝑆𝑦𝑠𝑡𝑒𝑚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𝑔𝑎𝑖𝑛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[°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𝑘𝑊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19B59-CC2B-6695-0B29-8BEAF4F9C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4037" y="2930457"/>
                <a:ext cx="6279160" cy="369332"/>
              </a:xfrm>
              <a:prstGeom prst="rect">
                <a:avLst/>
              </a:prstGeom>
              <a:blipFill>
                <a:blip r:embed="rId6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0A79FA-BE47-99C3-F664-F6FBA94D63D8}"/>
                  </a:ext>
                </a:extLst>
              </p:cNvPr>
              <p:cNvSpPr txBox="1"/>
              <p:nvPr/>
            </p:nvSpPr>
            <p:spPr>
              <a:xfrm>
                <a:off x="-594219" y="2532009"/>
                <a:ext cx="627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𝑒𝑠𝑒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𝑞𝑢𝑒𝑠𝑡𝑖𝑜𝑛𝑠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𝑔𝑒𝑡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0A79FA-BE47-99C3-F664-F6FBA94D6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4219" y="2532009"/>
                <a:ext cx="6279160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1762DEE-505D-849E-6648-D98C0EE27964}"/>
              </a:ext>
            </a:extLst>
          </p:cNvPr>
          <p:cNvSpPr txBox="1"/>
          <p:nvPr/>
        </p:nvSpPr>
        <p:spPr>
          <a:xfrm>
            <a:off x="783741" y="239296"/>
            <a:ext cx="648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First Order Transfer Function 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DD17D6-A05F-5D5A-15FE-06DAEAC38C90}"/>
                  </a:ext>
                </a:extLst>
              </p:cNvPr>
              <p:cNvSpPr txBox="1"/>
              <p:nvPr/>
            </p:nvSpPr>
            <p:spPr>
              <a:xfrm>
                <a:off x="0" y="3270673"/>
                <a:ext cx="6555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420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;  %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𝑐𝑜𝑛𝑠𝑡𝑎𝑛𝑡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] −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𝑚𝑖𝑛𝑢𝑡𝑒𝑠</m:t>
                      </m:r>
                    </m:oMath>
                  </m:oMathPara>
                </a14:m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DD17D6-A05F-5D5A-15FE-06DAEAC3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70673"/>
                <a:ext cx="6555996" cy="369332"/>
              </a:xfrm>
              <a:prstGeom prst="rect">
                <a:avLst/>
              </a:prstGeom>
              <a:blipFill>
                <a:blip r:embed="rId8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5733925-3FE6-E7D2-5BA2-F9D0115FBFA7}"/>
              </a:ext>
            </a:extLst>
          </p:cNvPr>
          <p:cNvSpPr txBox="1"/>
          <p:nvPr/>
        </p:nvSpPr>
        <p:spPr>
          <a:xfrm>
            <a:off x="764866" y="4066121"/>
            <a:ext cx="6522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ESO Design -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0564A-2108-4D71-579A-DE0009F23DF4}"/>
                  </a:ext>
                </a:extLst>
              </p:cNvPr>
              <p:cNvSpPr txBox="1"/>
              <p:nvPr/>
            </p:nvSpPr>
            <p:spPr>
              <a:xfrm>
                <a:off x="601910" y="4496873"/>
                <a:ext cx="8625979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Purpose of the ESO</a:t>
                </a:r>
              </a:p>
              <a:p>
                <a:pPr>
                  <a:buNone/>
                </a:pP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 three states: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temperature (noisy measurement)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temperature rate (derivative estimate)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disturbance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Provide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to ADRC so the controller can cancel disturbances in real time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CA0564A-2108-4D71-579A-DE0009F23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10" y="4496873"/>
                <a:ext cx="8625979" cy="2031325"/>
              </a:xfrm>
              <a:prstGeom prst="rect">
                <a:avLst/>
              </a:prstGeom>
              <a:blipFill>
                <a:blip r:embed="rId9"/>
                <a:stretch>
                  <a:fillRect l="-636" t="-1802" b="-3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63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E0E3-85D7-E061-988F-01F164C5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3DC0ED-3755-48FD-2F43-689492654539}"/>
              </a:ext>
            </a:extLst>
          </p:cNvPr>
          <p:cNvSpPr txBox="1"/>
          <p:nvPr/>
        </p:nvSpPr>
        <p:spPr>
          <a:xfrm>
            <a:off x="683701" y="251237"/>
            <a:ext cx="839318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Observer gain tuning (bandwidth method)</a:t>
            </a:r>
          </a:p>
          <a:p>
            <a:pPr>
              <a:buNone/>
            </a:pP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25719-D1FD-8279-4B0B-92BDEF79A2FF}"/>
                  </a:ext>
                </a:extLst>
              </p:cNvPr>
              <p:cNvSpPr txBox="1"/>
              <p:nvPr/>
            </p:nvSpPr>
            <p:spPr>
              <a:xfrm>
                <a:off x="683701" y="704513"/>
                <a:ext cx="7453619" cy="206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Choose observer bandwidth(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0.05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(because it is slow system so we have choose low value )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observer gains -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l1= 3*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= 0.15 ,     l2 = 3*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0075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l3=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000125</m:t>
                    </m:r>
                  </m:oMath>
                </a14:m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B25719-D1FD-8279-4B0B-92BDEF79A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01" y="704513"/>
                <a:ext cx="7453619" cy="2068964"/>
              </a:xfrm>
              <a:prstGeom prst="rect">
                <a:avLst/>
              </a:prstGeom>
              <a:blipFill>
                <a:blip r:embed="rId2"/>
                <a:stretch>
                  <a:fillRect l="-818" t="-1770" b="-3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B3B22A-7FCA-2331-E6C3-D16D35DCEDE9}"/>
                  </a:ext>
                </a:extLst>
              </p:cNvPr>
              <p:cNvSpPr txBox="1"/>
              <p:nvPr/>
            </p:nvSpPr>
            <p:spPr>
              <a:xfrm>
                <a:off x="610549" y="2936220"/>
                <a:ext cx="7881457" cy="1790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ADRC controller gains</a:t>
                </a: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= 0.015; (controller should be slower than the observer)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kp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0.000225                 , kd = 2*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0.03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B3B22A-7FCA-2331-E6C3-D16D35DCE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49" y="2936220"/>
                <a:ext cx="7881457" cy="1790555"/>
              </a:xfrm>
              <a:prstGeom prst="rect">
                <a:avLst/>
              </a:prstGeom>
              <a:blipFill>
                <a:blip r:embed="rId3"/>
                <a:stretch>
                  <a:fillRect l="-773" t="-1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24393B0-136C-F253-9EA4-E89FD71B67F3}"/>
              </a:ext>
            </a:extLst>
          </p:cNvPr>
          <p:cNvSpPr txBox="1"/>
          <p:nvPr/>
        </p:nvSpPr>
        <p:spPr>
          <a:xfrm>
            <a:off x="482533" y="4644192"/>
            <a:ext cx="118662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Disturbances Used in the Simulation</a:t>
            </a:r>
          </a:p>
          <a:p>
            <a:pPr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Ambient Temperature Step Disturbance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600 s and 900 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ambient temperature is decreased by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−5°C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sudden environmental changes such as door opening, weather fluctuation.</a:t>
            </a:r>
          </a:p>
        </p:txBody>
      </p:sp>
    </p:spTree>
    <p:extLst>
      <p:ext uri="{BB962C8B-B14F-4D97-AF65-F5344CB8AC3E}">
        <p14:creationId xmlns:p14="http://schemas.microsoft.com/office/powerpoint/2010/main" val="271967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0234-EB56-CC26-8A3B-D84346FC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2EB861-A2BB-FFE2-5FAF-83EDE040F4B2}"/>
                  </a:ext>
                </a:extLst>
              </p:cNvPr>
              <p:cNvSpPr txBox="1"/>
              <p:nvPr/>
            </p:nvSpPr>
            <p:spPr>
              <a:xfrm>
                <a:off x="742425" y="133305"/>
                <a:ext cx="10716935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 Sinusoidal Environmental Variation</a:t>
                </a:r>
              </a:p>
              <a:p>
                <a:pPr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periodic disturbance of amplitude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±2°C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a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20-minute period (1200 s)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added continuously.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Ex-periodic air-flow disturbances.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 Parameter Variation (Heat Transfer Coefficient Change)</a:t>
                </a:r>
              </a:p>
              <a:p>
                <a:pPr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After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1200 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heat transfer coefficient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increased by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+0.2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Represents aging, increased convection losses.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2EB861-A2BB-FFE2-5FAF-83EDE040F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25" y="133305"/>
                <a:ext cx="10716935" cy="2585323"/>
              </a:xfrm>
              <a:prstGeom prst="rect">
                <a:avLst/>
              </a:prstGeom>
              <a:blipFill>
                <a:blip r:embed="rId2"/>
                <a:stretch>
                  <a:fillRect l="-512" t="-1415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CEA96FA-D113-68B6-997E-43E715BAB598}"/>
              </a:ext>
            </a:extLst>
          </p:cNvPr>
          <p:cNvSpPr txBox="1"/>
          <p:nvPr/>
        </p:nvSpPr>
        <p:spPr>
          <a:xfrm>
            <a:off x="641758" y="2852149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Summary of the Work Done (Complete Methodology</a:t>
            </a:r>
            <a:r>
              <a:rPr lang="en-US" b="1" dirty="0"/>
              <a:t>)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C4C588-0C55-D3AF-3D43-BC7DC734728E}"/>
                  </a:ext>
                </a:extLst>
              </p:cNvPr>
              <p:cNvSpPr txBox="1"/>
              <p:nvPr/>
            </p:nvSpPr>
            <p:spPr>
              <a:xfrm>
                <a:off x="641758" y="3355002"/>
                <a:ext cx="10926660" cy="3991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Thermal System Modelling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Conversion to Control-Friendly Model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First-Order Transfer Function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ESO (Extended State Observer) Design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5.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Observer Gain Tuning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6.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ADRC Controller Design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7.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Disturbances Injected in the Simulation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8.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Numerical Implementation</a:t>
                </a: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9.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Comparison with PID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PID controller tuned for fair comparison:</a:t>
                </a:r>
              </a:p>
              <a:p>
                <a:pPr lvl="1"/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002</m:t>
                    </m:r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Used the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same disturbances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same plant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AutoNum type="arabicPeriod"/>
                </a:pPr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C4C588-0C55-D3AF-3D43-BC7DC7347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58" y="3355002"/>
                <a:ext cx="10926660" cy="3991734"/>
              </a:xfrm>
              <a:prstGeom prst="rect">
                <a:avLst/>
              </a:prstGeom>
              <a:blipFill>
                <a:blip r:embed="rId3"/>
                <a:stretch>
                  <a:fillRect l="-446" t="-7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131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9813-E0D4-3AC3-0FC4-297F0A80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1C9328-5EE7-A98F-6F3A-AF959597A612}"/>
              </a:ext>
            </a:extLst>
          </p:cNvPr>
          <p:cNvSpPr txBox="1"/>
          <p:nvPr/>
        </p:nvSpPr>
        <p:spPr>
          <a:xfrm>
            <a:off x="251670" y="107614"/>
            <a:ext cx="4382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Results </a:t>
            </a:r>
          </a:p>
          <a:p>
            <a:endParaRPr lang="en-US" sz="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D574A-6647-0DFB-C393-149503135E9B}"/>
              </a:ext>
            </a:extLst>
          </p:cNvPr>
          <p:cNvSpPr txBox="1"/>
          <p:nvPr/>
        </p:nvSpPr>
        <p:spPr>
          <a:xfrm>
            <a:off x="92447" y="815500"/>
            <a:ext cx="5170722" cy="578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PID Controller Performance (Red Line):</a:t>
            </a:r>
            <a:endParaRPr lang="en-US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1.It is slower to settle at the target, taking about 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240 seconds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overshoots the target by a significant amount (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12.5%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meaning it heats up to almost 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90°C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before coming back down.</a:t>
            </a:r>
            <a:endParaRPr lang="en-US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3.It is less accurate overall, with a higher Root Mean Square Error (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RMSE: 0.45°C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l">
              <a:spcBef>
                <a:spcPts val="450"/>
              </a:spcBef>
              <a:spcAft>
                <a:spcPts val="600"/>
              </a:spcAft>
            </a:pPr>
            <a:endParaRPr lang="en-US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2.ADRC Controller Performance (Blue Line):</a:t>
            </a:r>
            <a:endParaRPr lang="en-US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1.It is much faster, settling at the target in about 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135 seconds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has a very small overshoot (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4.2%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staying much closer to the desired 80°C.</a:t>
            </a:r>
          </a:p>
          <a:p>
            <a:pPr algn="l">
              <a:spcBef>
                <a:spcPts val="450"/>
              </a:spcBef>
              <a:spcAft>
                <a:spcPts val="600"/>
              </a:spcAft>
            </a:pPr>
            <a:r>
              <a:rPr lang="en-US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more accurate, with a much lower error (</a:t>
            </a:r>
            <a:r>
              <a:rPr lang="en-US" b="1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RMSE: 0.15°C</a:t>
            </a:r>
            <a:r>
              <a:rPr lang="en-US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285A5-90DD-C8E5-9AE9-39EE86AB9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69" y="1491224"/>
            <a:ext cx="6928831" cy="387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3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32240-25FB-07CA-6738-6B1044019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5B2F67-A978-9072-B829-98430E7AF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514" y="2146426"/>
            <a:ext cx="5414248" cy="2326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030FE0-9581-0D18-6BF8-5AB841C19DE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048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2 – </a:t>
                </a:r>
                <a:r>
                  <a:rPr lang="en-I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Buck Converter(DC-DC Converter)</a:t>
                </a:r>
              </a:p>
              <a:p>
                <a:endParaRPr lang="en-IN" b="1" dirty="0"/>
              </a:p>
              <a:p>
                <a:r>
                  <a:rPr lang="en-IN" dirty="0"/>
                  <a:t>-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 type of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DC-DC step-down converter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reduces an input DC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to a lower regulated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-it is a fast response system and it has 2</a:t>
                </a:r>
                <a:r>
                  <a:rPr lang="en-IN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order transfer function.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SYSTEM PARAMETERS 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Vin = 24;           Input voltage [V]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IN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Vref</a:t>
                </a:r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= 12;           Output voltage reference [V]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L = 47e-6;           Inductance [H]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C = 100e-6;          Capacitance [F]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R = 10;              Load resistance [</a:t>
                </a:r>
                <a:r>
                  <a:rPr lang="el-GR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Ω]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fs = 100e3;          Switching frequency [Hz]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Ts = 1/fs;          Sampling time [s]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                                                 circuit diagram </a:t>
                </a: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                                                                 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030FE0-9581-0D18-6BF8-5AB841C19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9048631"/>
              </a:xfrm>
              <a:prstGeom prst="rect">
                <a:avLst/>
              </a:prstGeom>
              <a:blipFill>
                <a:blip r:embed="rId3"/>
                <a:stretch>
                  <a:fillRect l="-1500" t="-10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EFD19E-5E62-B1CB-1FF2-5EB04A752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4560"/>
              </p:ext>
            </p:extLst>
          </p:nvPr>
        </p:nvGraphicFramePr>
        <p:xfrm>
          <a:off x="0" y="5084064"/>
          <a:ext cx="11365992" cy="177393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41498">
                  <a:extLst>
                    <a:ext uri="{9D8B030D-6E8A-4147-A177-3AD203B41FA5}">
                      <a16:colId xmlns:a16="http://schemas.microsoft.com/office/drawing/2014/main" val="2693967234"/>
                    </a:ext>
                  </a:extLst>
                </a:gridCol>
                <a:gridCol w="2841498">
                  <a:extLst>
                    <a:ext uri="{9D8B030D-6E8A-4147-A177-3AD203B41FA5}">
                      <a16:colId xmlns:a16="http://schemas.microsoft.com/office/drawing/2014/main" val="3442438531"/>
                    </a:ext>
                  </a:extLst>
                </a:gridCol>
                <a:gridCol w="2841498">
                  <a:extLst>
                    <a:ext uri="{9D8B030D-6E8A-4147-A177-3AD203B41FA5}">
                      <a16:colId xmlns:a16="http://schemas.microsoft.com/office/drawing/2014/main" val="636517665"/>
                    </a:ext>
                  </a:extLst>
                </a:gridCol>
                <a:gridCol w="2841498">
                  <a:extLst>
                    <a:ext uri="{9D8B030D-6E8A-4147-A177-3AD203B41FA5}">
                      <a16:colId xmlns:a16="http://schemas.microsoft.com/office/drawing/2014/main" val="1044951582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Disturbance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23805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1.Load Disturbance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change (R)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ms &amp; 6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10Ω→8Ω, 10Ω→15Ω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063708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2.Input Disturbance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voltage drop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24V→21.6V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8169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3.Measurement Noise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Sensor/ADC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±1 mV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5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656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D0AB3-45A6-5CFA-44FE-C20D13BD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16F961-1A0E-3A59-4E87-8366203BCE45}"/>
              </a:ext>
            </a:extLst>
          </p:cNvPr>
          <p:cNvSpPr txBox="1"/>
          <p:nvPr/>
        </p:nvSpPr>
        <p:spPr>
          <a:xfrm>
            <a:off x="184558" y="148461"/>
            <a:ext cx="10461071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Derivation of State Equations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converter has two switching states.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 1: Switch ON (S ON, S2 OFF) 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main switch S is turned ON and the diode (or auxiliary switch) S2 is OFF, the inductor is directly connected to the input source Vin.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 2: Switch OFF (S OFF, S2 ON)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main switch S is turned OFF and the diode (or auxiliary switch) S2 is ON, the inductor releases its stored energy to the output through the freewheeling path.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AB153-6215-2AA3-1E9E-8850AF87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275" y="1682594"/>
            <a:ext cx="2352141" cy="1746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B04B3F-EDF5-76FD-3ECD-5284B4FC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639" y="4551486"/>
            <a:ext cx="2442187" cy="1695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4DC31C-BDAD-E8D8-FEA1-0F1B3CBA9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829" y="1682594"/>
            <a:ext cx="4249871" cy="1868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EF38F5-B3F7-FBF9-DF6D-61669CF06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10" y="4293651"/>
            <a:ext cx="3741490" cy="24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39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7C88-6F0A-8DB4-4B52-74266481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952A6D-7737-006F-9EBA-34B1524F9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82" y="750670"/>
            <a:ext cx="4100760" cy="1293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5881BA-BE13-D312-8220-C3D060C1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14" y="2994095"/>
            <a:ext cx="6651565" cy="12653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E95A17-107C-A38D-3D79-4E5AE74DEA1F}"/>
              </a:ext>
            </a:extLst>
          </p:cNvPr>
          <p:cNvSpPr txBox="1"/>
          <p:nvPr/>
        </p:nvSpPr>
        <p:spPr>
          <a:xfrm>
            <a:off x="859871" y="381338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After solving the equation we get ,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D4AC2-9CB6-3863-23D4-835C9111ABD0}"/>
              </a:ext>
            </a:extLst>
          </p:cNvPr>
          <p:cNvSpPr txBox="1"/>
          <p:nvPr/>
        </p:nvSpPr>
        <p:spPr>
          <a:xfrm>
            <a:off x="859871" y="2229187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Transfer Function is given by ,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86B917-D832-C354-2715-E022B26B5D4B}"/>
              </a:ext>
            </a:extLst>
          </p:cNvPr>
          <p:cNvSpPr txBox="1"/>
          <p:nvPr/>
        </p:nvSpPr>
        <p:spPr>
          <a:xfrm>
            <a:off x="755914" y="4594156"/>
            <a:ext cx="7702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IN" sz="2000" b="1" baseline="30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nd</a:t>
            </a:r>
            <a:r>
              <a:rPr lang="en-IN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order transfer function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F7B854-5680-3942-EEED-E6F45BA401EF}"/>
                  </a:ext>
                </a:extLst>
              </p:cNvPr>
              <p:cNvSpPr txBox="1"/>
              <p:nvPr/>
            </p:nvSpPr>
            <p:spPr>
              <a:xfrm>
                <a:off x="1629390" y="5466514"/>
                <a:ext cx="2826864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IN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p>
                            <m:sSup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𝐷𝑇𝑆</m:t>
                          </m:r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F7B854-5680-3942-EEED-E6F45BA40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90" y="5466514"/>
                <a:ext cx="2826864" cy="640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50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6A7B-4DDD-6B9C-40F3-E127F3C3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221D1-6A52-6CF3-E981-71C7C2ABC4EC}"/>
                  </a:ext>
                </a:extLst>
              </p:cNvPr>
              <p:cNvSpPr txBox="1"/>
              <p:nvPr/>
            </p:nvSpPr>
            <p:spPr>
              <a:xfrm>
                <a:off x="868047" y="603413"/>
                <a:ext cx="34168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̈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𝐷𝑇</m:t>
                      </m:r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𝑘𝑢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221D1-6A52-6CF3-E981-71C7C2ABC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47" y="603413"/>
                <a:ext cx="3416897" cy="276999"/>
              </a:xfrm>
              <a:prstGeom prst="rect">
                <a:avLst/>
              </a:prstGeom>
              <a:blipFill>
                <a:blip r:embed="rId2"/>
                <a:stretch>
                  <a:fillRect l="-1070" t="-2222" b="-3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B94CD3-B609-C405-23E8-394B7709EDB3}"/>
                  </a:ext>
                </a:extLst>
              </p:cNvPr>
              <p:cNvSpPr txBox="1"/>
              <p:nvPr/>
            </p:nvSpPr>
            <p:spPr>
              <a:xfrm>
                <a:off x="-190888" y="1213306"/>
                <a:ext cx="6094602" cy="616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i="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fr-FR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̇"/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 dirty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fr-FR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 dirty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fr-FR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 dirty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B94CD3-B609-C405-23E8-394B7709E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888" y="1213306"/>
                <a:ext cx="6094602" cy="616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5B3055-494F-9F77-34F5-3E1D8F6F5320}"/>
                  </a:ext>
                </a:extLst>
              </p:cNvPr>
              <p:cNvSpPr txBox="1"/>
              <p:nvPr/>
            </p:nvSpPr>
            <p:spPr>
              <a:xfrm>
                <a:off x="-667947" y="2620182"/>
                <a:ext cx="64888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5B3055-494F-9F77-34F5-3E1D8F6F5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7947" y="2620182"/>
                <a:ext cx="6488884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A11CA8-9667-3684-709B-CEB21C4BB368}"/>
                  </a:ext>
                </a:extLst>
              </p:cNvPr>
              <p:cNvSpPr txBox="1"/>
              <p:nvPr/>
            </p:nvSpPr>
            <p:spPr>
              <a:xfrm>
                <a:off x="-2005036" y="2635846"/>
                <a:ext cx="64888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0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A11CA8-9667-3684-709B-CEB21C4B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5036" y="2635846"/>
                <a:ext cx="648888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4B69BA-66DE-8128-9BD4-616B7B37D00A}"/>
                  </a:ext>
                </a:extLst>
              </p:cNvPr>
              <p:cNvSpPr txBox="1"/>
              <p:nvPr/>
            </p:nvSpPr>
            <p:spPr>
              <a:xfrm>
                <a:off x="769752" y="3753109"/>
                <a:ext cx="2086661" cy="636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4B69BA-66DE-8128-9BD4-616B7B37D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52" y="3753109"/>
                <a:ext cx="2086661" cy="6368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B73001-E74F-F338-027E-A22C15331DE3}"/>
                  </a:ext>
                </a:extLst>
              </p:cNvPr>
              <p:cNvSpPr txBox="1"/>
              <p:nvPr/>
            </p:nvSpPr>
            <p:spPr>
              <a:xfrm>
                <a:off x="-1421060" y="4521199"/>
                <a:ext cx="7354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B73001-E74F-F338-027E-A22C1533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21060" y="4521199"/>
                <a:ext cx="7354388" cy="369332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ABE924-3628-2605-D803-AAFA10CC3587}"/>
                  </a:ext>
                </a:extLst>
              </p:cNvPr>
              <p:cNvSpPr txBox="1"/>
              <p:nvPr/>
            </p:nvSpPr>
            <p:spPr>
              <a:xfrm>
                <a:off x="-2135496" y="4521199"/>
                <a:ext cx="7354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ABE924-3628-2605-D803-AAFA10CC3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35496" y="4521199"/>
                <a:ext cx="735438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FFAC8FE-9F25-9DF2-7991-2EDE3A807AD0}"/>
              </a:ext>
            </a:extLst>
          </p:cNvPr>
          <p:cNvSpPr txBox="1"/>
          <p:nvPr/>
        </p:nvSpPr>
        <p:spPr>
          <a:xfrm>
            <a:off x="402668" y="5130268"/>
            <a:ext cx="7354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Luenberger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observer: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01A64F-466B-6EEB-4F17-71D42807E070}"/>
                  </a:ext>
                </a:extLst>
              </p:cNvPr>
              <p:cNvSpPr txBox="1"/>
              <p:nvPr/>
            </p:nvSpPr>
            <p:spPr>
              <a:xfrm>
                <a:off x="533904" y="5656631"/>
                <a:ext cx="12884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01A64F-466B-6EEB-4F17-71D42807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04" y="5656631"/>
                <a:ext cx="1288494" cy="276999"/>
              </a:xfrm>
              <a:prstGeom prst="rect">
                <a:avLst/>
              </a:prstGeom>
              <a:blipFill>
                <a:blip r:embed="rId9"/>
                <a:stretch>
                  <a:fillRect l="-2370" b="-28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51096D-5F43-085C-CCEA-F9AFC4EA8761}"/>
                  </a:ext>
                </a:extLst>
              </p:cNvPr>
              <p:cNvSpPr txBox="1"/>
              <p:nvPr/>
            </p:nvSpPr>
            <p:spPr>
              <a:xfrm>
                <a:off x="-1123403" y="5574167"/>
                <a:ext cx="7541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651096D-5F43-085C-CCEA-F9AFC4EA8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3403" y="5574167"/>
                <a:ext cx="7541622" cy="369332"/>
              </a:xfrm>
              <a:prstGeom prst="rect">
                <a:avLst/>
              </a:prstGeom>
              <a:blipFill>
                <a:blip r:embed="rId10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644584-C99E-DC67-C7F7-F83D1FE47417}"/>
                  </a:ext>
                </a:extLst>
              </p:cNvPr>
              <p:cNvSpPr txBox="1"/>
              <p:nvPr/>
            </p:nvSpPr>
            <p:spPr>
              <a:xfrm>
                <a:off x="335279" y="5531949"/>
                <a:ext cx="7541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644584-C99E-DC67-C7F7-F83D1FE4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79" y="5531949"/>
                <a:ext cx="7541622" cy="369332"/>
              </a:xfrm>
              <a:prstGeom prst="rect">
                <a:avLst/>
              </a:prstGeom>
              <a:blipFill>
                <a:blip r:embed="rId1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C1CC185-0E21-99B0-10DB-4A19BC281ED2}"/>
              </a:ext>
            </a:extLst>
          </p:cNvPr>
          <p:cNvSpPr txBox="1"/>
          <p:nvPr/>
        </p:nvSpPr>
        <p:spPr>
          <a:xfrm>
            <a:off x="609561" y="2059173"/>
            <a:ext cx="770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Simplified Plant Model: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17AB2-37B3-15B2-6FAE-23FFED9240A1}"/>
              </a:ext>
            </a:extLst>
          </p:cNvPr>
          <p:cNvSpPr txBox="1"/>
          <p:nvPr/>
        </p:nvSpPr>
        <p:spPr>
          <a:xfrm>
            <a:off x="533904" y="3218930"/>
            <a:ext cx="762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Law: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1FD5BB-08AE-F978-DB73-878D873948E6}"/>
              </a:ext>
            </a:extLst>
          </p:cNvPr>
          <p:cNvSpPr txBox="1"/>
          <p:nvPr/>
        </p:nvSpPr>
        <p:spPr>
          <a:xfrm>
            <a:off x="287382" y="4534510"/>
            <a:ext cx="7637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Where: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71F007-3BF9-1615-829A-A6C18ADA37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444" y="2388187"/>
            <a:ext cx="7111015" cy="2716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0377D3-60B0-9B43-B9D0-9C671CD263CB}"/>
              </a:ext>
            </a:extLst>
          </p:cNvPr>
          <p:cNvSpPr txBox="1"/>
          <p:nvPr/>
        </p:nvSpPr>
        <p:spPr>
          <a:xfrm>
            <a:off x="2963818" y="3876720"/>
            <a:ext cx="7167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: b0=Vin/LC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505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4ED4-71E9-5495-2F54-CC30ECB9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4D96FE-4A1F-9091-590A-A19B935FC775}"/>
              </a:ext>
            </a:extLst>
          </p:cNvPr>
          <p:cNvSpPr txBox="1"/>
          <p:nvPr/>
        </p:nvSpPr>
        <p:spPr>
          <a:xfrm>
            <a:off x="-1" y="-3779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 voltage regulation: ADRC vs PID controller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2B800-2214-7B66-5705-ACE25840D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866" y="1"/>
            <a:ext cx="4857134" cy="342899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6E7419-EFD3-CB6C-83A4-DC4AA7DF3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337166"/>
              </p:ext>
            </p:extLst>
          </p:nvPr>
        </p:nvGraphicFramePr>
        <p:xfrm>
          <a:off x="0" y="416726"/>
          <a:ext cx="7334866" cy="18161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73488">
                  <a:extLst>
                    <a:ext uri="{9D8B030D-6E8A-4147-A177-3AD203B41FA5}">
                      <a16:colId xmlns:a16="http://schemas.microsoft.com/office/drawing/2014/main" val="1193156127"/>
                    </a:ext>
                  </a:extLst>
                </a:gridCol>
                <a:gridCol w="1887126">
                  <a:extLst>
                    <a:ext uri="{9D8B030D-6E8A-4147-A177-3AD203B41FA5}">
                      <a16:colId xmlns:a16="http://schemas.microsoft.com/office/drawing/2014/main" val="2845561852"/>
                    </a:ext>
                  </a:extLst>
                </a:gridCol>
                <a:gridCol w="1887126">
                  <a:extLst>
                    <a:ext uri="{9D8B030D-6E8A-4147-A177-3AD203B41FA5}">
                      <a16:colId xmlns:a16="http://schemas.microsoft.com/office/drawing/2014/main" val="1434060708"/>
                    </a:ext>
                  </a:extLst>
                </a:gridCol>
                <a:gridCol w="1887126">
                  <a:extLst>
                    <a:ext uri="{9D8B030D-6E8A-4147-A177-3AD203B41FA5}">
                      <a16:colId xmlns:a16="http://schemas.microsoft.com/office/drawing/2014/main" val="900338499"/>
                    </a:ext>
                  </a:extLst>
                </a:gridCol>
              </a:tblGrid>
              <a:tr h="34024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ADRC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Improvement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733703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Regulation</a:t>
                      </a:r>
                      <a:endParaRPr lang="en-IN" sz="18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±0.5%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±2.1%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76% better</a:t>
                      </a:r>
                      <a:endParaRPr lang="en-IN" sz="18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65617698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Settling Time</a:t>
                      </a:r>
                      <a:endParaRPr lang="en-IN" sz="18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 ms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 ms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70% faster</a:t>
                      </a:r>
                      <a:endParaRPr lang="en-IN" sz="18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4485158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</a:t>
                      </a:r>
                      <a:endParaRPr lang="en-IN" sz="1800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94.2%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91.5%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+2.7%</a:t>
                      </a:r>
                      <a:endParaRPr lang="en-IN" sz="1800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65540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B939F9-F57A-CBA9-C7D7-13683FF6BEE1}"/>
              </a:ext>
            </a:extLst>
          </p:cNvPr>
          <p:cNvSpPr txBox="1"/>
          <p:nvPr/>
        </p:nvSpPr>
        <p:spPr>
          <a:xfrm>
            <a:off x="0" y="2283999"/>
            <a:ext cx="7334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ADRC maintains tighter voltage control (±0.5% vs ±2.1%)</a:t>
            </a:r>
          </a:p>
          <a:p>
            <a:r>
              <a:rPr lang="en-IN" dirty="0"/>
              <a:t>-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ADRC responds 3x faster to disturbances (2.5ms vs 8.2ms)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-ADRC achieves higher power efficiency (94.2% vs 91.5%)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4E48BE-B8B2-4A5F-D064-F118B2E5ED5C}"/>
              </a:ext>
            </a:extLst>
          </p:cNvPr>
          <p:cNvSpPr txBox="1"/>
          <p:nvPr/>
        </p:nvSpPr>
        <p:spPr>
          <a:xfrm>
            <a:off x="5606409" y="3549668"/>
            <a:ext cx="5009536" cy="394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IN" sz="2000" b="1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Disturbance Estimation Performance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1BBEAF3-04A9-D94F-3584-14117E57B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220092"/>
              </p:ext>
            </p:extLst>
          </p:nvPr>
        </p:nvGraphicFramePr>
        <p:xfrm>
          <a:off x="5606409" y="4048923"/>
          <a:ext cx="6627507" cy="27813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35901">
                  <a:extLst>
                    <a:ext uri="{9D8B030D-6E8A-4147-A177-3AD203B41FA5}">
                      <a16:colId xmlns:a16="http://schemas.microsoft.com/office/drawing/2014/main" val="1998971871"/>
                    </a:ext>
                  </a:extLst>
                </a:gridCol>
                <a:gridCol w="2295803">
                  <a:extLst>
                    <a:ext uri="{9D8B030D-6E8A-4147-A177-3AD203B41FA5}">
                      <a16:colId xmlns:a16="http://schemas.microsoft.com/office/drawing/2014/main" val="769490447"/>
                    </a:ext>
                  </a:extLst>
                </a:gridCol>
                <a:gridCol w="2295803">
                  <a:extLst>
                    <a:ext uri="{9D8B030D-6E8A-4147-A177-3AD203B41FA5}">
                      <a16:colId xmlns:a16="http://schemas.microsoft.com/office/drawing/2014/main" val="2836899258"/>
                    </a:ext>
                  </a:extLst>
                </a:gridCol>
              </a:tblGrid>
              <a:tr h="36740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Significance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494293438"/>
                  </a:ext>
                </a:extLst>
              </a:tr>
              <a:tr h="5925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Estimation Accuracy</a:t>
                      </a:r>
                      <a:endParaRPr lang="en-IN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RMSE: 0.50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precision tracking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567639983"/>
                  </a:ext>
                </a:extLst>
              </a:tr>
              <a:tr h="8177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Observer Type</a:t>
                      </a:r>
                      <a:endParaRPr lang="en-IN" b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Luenberger Observer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disturbance detection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43983390"/>
                  </a:ext>
                </a:extLst>
              </a:tr>
              <a:tr h="8177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  <a:endParaRPr lang="en-IN" b="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Disturbance Rejection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Enables automatic compensation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6448926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05B430B-A639-75F1-8B07-1E33F952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37" y="3714632"/>
            <a:ext cx="5075339" cy="281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45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68D9-8674-FBE9-99DF-FFF1E198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C8A64-E2F1-FEAB-543C-69D9B2AB3DE6}"/>
              </a:ext>
            </a:extLst>
          </p:cNvPr>
          <p:cNvSpPr txBox="1"/>
          <p:nvPr/>
        </p:nvSpPr>
        <p:spPr>
          <a:xfrm>
            <a:off x="633368" y="150894"/>
            <a:ext cx="6098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Results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C4FA53-8274-D4B6-5B44-AA74446AC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19656"/>
              </p:ext>
            </p:extLst>
          </p:nvPr>
        </p:nvGraphicFramePr>
        <p:xfrm>
          <a:off x="759203" y="1278690"/>
          <a:ext cx="8596310" cy="16459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1536546206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99791128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88997255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57925940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1521651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Controller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 (°C)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Settling Time (s)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Overshoot (%)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Robustness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433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752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ADRC (Proposed)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7781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845073-D789-BD4C-9902-84D3187C20A6}"/>
              </a:ext>
            </a:extLst>
          </p:cNvPr>
          <p:cNvSpPr txBox="1"/>
          <p:nvPr/>
        </p:nvSpPr>
        <p:spPr>
          <a:xfrm>
            <a:off x="759203" y="878580"/>
            <a:ext cx="6098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1.Temperature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BEE61-24F4-317C-28B7-4295C9AB65CA}"/>
              </a:ext>
            </a:extLst>
          </p:cNvPr>
          <p:cNvSpPr txBox="1"/>
          <p:nvPr/>
        </p:nvSpPr>
        <p:spPr>
          <a:xfrm>
            <a:off x="633368" y="4018279"/>
            <a:ext cx="6098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2.DC-DC Converter Performance Comparison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534721-B056-F228-45C7-6134EFEF4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975400"/>
              </p:ext>
            </p:extLst>
          </p:nvPr>
        </p:nvGraphicFramePr>
        <p:xfrm>
          <a:off x="633367" y="4406394"/>
          <a:ext cx="8722144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80536">
                  <a:extLst>
                    <a:ext uri="{9D8B030D-6E8A-4147-A177-3AD203B41FA5}">
                      <a16:colId xmlns:a16="http://schemas.microsoft.com/office/drawing/2014/main" val="3269855905"/>
                    </a:ext>
                  </a:extLst>
                </a:gridCol>
                <a:gridCol w="2180536">
                  <a:extLst>
                    <a:ext uri="{9D8B030D-6E8A-4147-A177-3AD203B41FA5}">
                      <a16:colId xmlns:a16="http://schemas.microsoft.com/office/drawing/2014/main" val="2046824581"/>
                    </a:ext>
                  </a:extLst>
                </a:gridCol>
                <a:gridCol w="2180536">
                  <a:extLst>
                    <a:ext uri="{9D8B030D-6E8A-4147-A177-3AD203B41FA5}">
                      <a16:colId xmlns:a16="http://schemas.microsoft.com/office/drawing/2014/main" val="57074386"/>
                    </a:ext>
                  </a:extLst>
                </a:gridCol>
                <a:gridCol w="2180536">
                  <a:extLst>
                    <a:ext uri="{9D8B030D-6E8A-4147-A177-3AD203B41FA5}">
                      <a16:colId xmlns:a16="http://schemas.microsoft.com/office/drawing/2014/main" val="26630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Controller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Regulation (%)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Settling Time (ms)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 (%)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982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96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ADRC (Proposed)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8771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F56D1E-A214-38DF-94E6-9F253A331B8D}"/>
              </a:ext>
            </a:extLst>
          </p:cNvPr>
          <p:cNvSpPr txBox="1"/>
          <p:nvPr/>
        </p:nvSpPr>
        <p:spPr>
          <a:xfrm>
            <a:off x="633368" y="3053917"/>
            <a:ext cx="108931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Observation: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ADRC controller achieves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lower RMSE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reduced settling 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minimal overshoot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compared to the conventional PID controller, indicating superior robustness and accuracy.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7638D-663D-A8C4-6C87-6BD0FDF15235}"/>
              </a:ext>
            </a:extLst>
          </p:cNvPr>
          <p:cNvSpPr txBox="1"/>
          <p:nvPr/>
        </p:nvSpPr>
        <p:spPr>
          <a:xfrm>
            <a:off x="633367" y="5672005"/>
            <a:ext cx="11164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Observation:</a:t>
            </a:r>
            <a:br>
              <a:rPr lang="en-US" dirty="0"/>
            </a:br>
            <a:r>
              <a:rPr lang="en-US" dirty="0"/>
              <a:t>The proposed ADRC-based controller improves </a:t>
            </a:r>
            <a:r>
              <a:rPr lang="en-US" b="1" dirty="0"/>
              <a:t>voltage regulation</a:t>
            </a:r>
            <a:r>
              <a:rPr lang="en-US" dirty="0"/>
              <a:t>, </a:t>
            </a:r>
            <a:r>
              <a:rPr lang="en-US" b="1" dirty="0"/>
              <a:t>speeds up transient response</a:t>
            </a:r>
            <a:r>
              <a:rPr lang="en-US" dirty="0"/>
              <a:t>, and enhances </a:t>
            </a:r>
            <a:r>
              <a:rPr lang="en-US" b="1" dirty="0"/>
              <a:t>efficiency</a:t>
            </a:r>
            <a:r>
              <a:rPr lang="en-US" dirty="0"/>
              <a:t>, showing clear performance gains over the PID controller.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566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47AC5-8814-EEEE-4FAC-7BBCCAB1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8BC7F-8622-E714-166A-A0709486B165}"/>
              </a:ext>
            </a:extLst>
          </p:cNvPr>
          <p:cNvSpPr txBox="1"/>
          <p:nvPr/>
        </p:nvSpPr>
        <p:spPr>
          <a:xfrm>
            <a:off x="309135" y="270984"/>
            <a:ext cx="1073371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latin typeface="Arial" panose="020B0604020202020204" pitchFamily="34" charset="0"/>
                <a:cs typeface="Arial" panose="020B0604020202020204" pitchFamily="34" charset="0"/>
              </a:rPr>
              <a:t>3.SEPIC Converter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6E2FD-3D56-630D-CA7E-5DF2BDB5A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700" y="2876872"/>
            <a:ext cx="6098796" cy="2382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66B6FC-5888-82DB-72C5-E32487305DFB}"/>
              </a:ext>
            </a:extLst>
          </p:cNvPr>
          <p:cNvSpPr txBox="1"/>
          <p:nvPr/>
        </p:nvSpPr>
        <p:spPr>
          <a:xfrm>
            <a:off x="541089" y="1240480"/>
            <a:ext cx="6098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Modelling 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5B8B9E-159E-BA07-CCCB-BF4FC832EEDE}"/>
              </a:ext>
            </a:extLst>
          </p:cNvPr>
          <p:cNvSpPr txBox="1"/>
          <p:nvPr/>
        </p:nvSpPr>
        <p:spPr>
          <a:xfrm>
            <a:off x="599813" y="1717300"/>
            <a:ext cx="7201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SEPIC converter can both step up and step-down voltage. Its modeling is more complex because it contains: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• Two inductors L1,L2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Series capacitor Cs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• Coupled energy paths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EECCB5-5F46-2C74-D21F-E677385AE5DB}"/>
              </a:ext>
            </a:extLst>
          </p:cNvPr>
          <p:cNvSpPr txBox="1"/>
          <p:nvPr/>
        </p:nvSpPr>
        <p:spPr>
          <a:xfrm>
            <a:off x="541089" y="3619389"/>
            <a:ext cx="41589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L1 = 80e-6; L2 = 80e-6;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RL1 = 50e-3; RL2 = 50e-3;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C1 = 220e-6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C2 = 470e-6; 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RLoad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= 1.15;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F3E737-63A4-27F7-B89C-67A5DF74AA1A}"/>
              </a:ext>
            </a:extLst>
          </p:cNvPr>
          <p:cNvSpPr txBox="1"/>
          <p:nvPr/>
        </p:nvSpPr>
        <p:spPr>
          <a:xfrm>
            <a:off x="541089" y="3219279"/>
            <a:ext cx="6098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Parameter value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D15DE4-62D2-9F07-B56F-9E9A216540F8}"/>
                  </a:ext>
                </a:extLst>
              </p:cNvPr>
              <p:cNvSpPr txBox="1"/>
              <p:nvPr/>
            </p:nvSpPr>
            <p:spPr>
              <a:xfrm>
                <a:off x="171975" y="5096717"/>
                <a:ext cx="10079372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Conversion to Control-Friendly Model</a:t>
                </a:r>
              </a:p>
              <a:p>
                <a:pPr>
                  <a:buNone/>
                </a:pP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coupling ripple.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Reduced model to inductor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and output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Grouped nonlinearities into disturbance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0D15DE4-62D2-9F07-B56F-9E9A21654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75" y="5096717"/>
                <a:ext cx="10079372" cy="1477328"/>
              </a:xfrm>
              <a:prstGeom prst="rect">
                <a:avLst/>
              </a:prstGeom>
              <a:blipFill>
                <a:blip r:embed="rId3"/>
                <a:stretch>
                  <a:fillRect l="-484" t="-2066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3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FBDEA-FEF7-DFFF-6BFF-BB7FCC0A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B7000-F3D1-FAD3-2828-BE7D6D0AA24D}"/>
              </a:ext>
            </a:extLst>
          </p:cNvPr>
          <p:cNvSpPr txBox="1"/>
          <p:nvPr/>
        </p:nvSpPr>
        <p:spPr>
          <a:xfrm>
            <a:off x="670112" y="290309"/>
            <a:ext cx="609879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Simulation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7C74C8-E0BB-3C98-D25B-F3B65152C289}"/>
                  </a:ext>
                </a:extLst>
              </p:cNvPr>
              <p:cNvSpPr txBox="1"/>
              <p:nvPr/>
            </p:nvSpPr>
            <p:spPr>
              <a:xfrm>
                <a:off x="566256" y="905757"/>
                <a:ext cx="8963637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1.ESO (Extended State Observer) Design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Estimated: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voltage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Its derivative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disturbance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Used nonlinear ESO (3rd-order) for fast disturbance estimation.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77C74C8-E0BB-3C98-D25B-F3B65152C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56" y="905757"/>
                <a:ext cx="8963637" cy="1754326"/>
              </a:xfrm>
              <a:prstGeom prst="rect">
                <a:avLst/>
              </a:prstGeom>
              <a:blipFill>
                <a:blip r:embed="rId2"/>
                <a:stretch>
                  <a:fillRect l="-612" t="-2091" b="-4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39AA760-F68F-A679-4689-963B5E02A58C}"/>
              </a:ext>
            </a:extLst>
          </p:cNvPr>
          <p:cNvSpPr txBox="1"/>
          <p:nvPr/>
        </p:nvSpPr>
        <p:spPr>
          <a:xfrm>
            <a:off x="566256" y="2828835"/>
            <a:ext cx="79737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Observer Gain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High bandwidth gains: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Bt01, Bt02, Bt03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Tuned aggressively to track rapid SEPIC nonlinearities.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Ensures ESO quickly cancels input/output disturbances.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3820D-B3B7-7F7F-4E7A-4764DE265D52}"/>
              </a:ext>
            </a:extLst>
          </p:cNvPr>
          <p:cNvSpPr txBox="1"/>
          <p:nvPr/>
        </p:nvSpPr>
        <p:spPr>
          <a:xfrm>
            <a:off x="566256" y="4305953"/>
            <a:ext cx="97186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N-ADRC Controller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Tracking Differentiator (TD) for smooth reference.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Control law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Proportional term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Integral term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Derivative‐like term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Disturbance compensation: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0AA68F-AFB2-D3EB-63CA-948A60CD6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55" y="3034322"/>
            <a:ext cx="5512545" cy="9948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35718-0531-2E13-C2A1-9DA5E6B65D2F}"/>
                  </a:ext>
                </a:extLst>
              </p:cNvPr>
              <p:cNvSpPr txBox="1"/>
              <p:nvPr/>
            </p:nvSpPr>
            <p:spPr>
              <a:xfrm>
                <a:off x="3884102" y="5874899"/>
                <a:ext cx="2086661" cy="636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35718-0531-2E13-C2A1-9DA5E6B65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102" y="5874899"/>
                <a:ext cx="2086661" cy="6368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423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BA0B-F7A5-2146-AFD4-5C207651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0E935F-A11B-4A87-BB1B-BF6E9D1FD286}"/>
                  </a:ext>
                </a:extLst>
              </p:cNvPr>
              <p:cNvSpPr txBox="1"/>
              <p:nvPr/>
            </p:nvSpPr>
            <p:spPr>
              <a:xfrm>
                <a:off x="694525" y="778988"/>
                <a:ext cx="507353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4. Disturbances Injected in the Simulation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+5 V input step at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0.12 s</a:t>
                </a: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−10 V output disturbance at </a:t>
                </a:r>
                <a:r>
                  <a:rPr lang="en-I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0.16 s</a:t>
                </a:r>
                <a:endParaRPr lang="en-I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1 kHz ripple added to input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50 mV measurement noise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±20% parameter mismatch in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0E935F-A11B-4A87-BB1B-BF6E9D1FD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5" y="778988"/>
                <a:ext cx="5073533" cy="1754326"/>
              </a:xfrm>
              <a:prstGeom prst="rect">
                <a:avLst/>
              </a:prstGeom>
              <a:blipFill>
                <a:blip r:embed="rId2"/>
                <a:stretch>
                  <a:fillRect l="-1082" t="-2083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CEF200C-F2F4-7EB0-8A9D-BBDC2B0CC897}"/>
              </a:ext>
            </a:extLst>
          </p:cNvPr>
          <p:cNvSpPr txBox="1"/>
          <p:nvPr/>
        </p:nvSpPr>
        <p:spPr>
          <a:xfrm>
            <a:off x="625064" y="2888395"/>
            <a:ext cx="112622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5. Numerical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Solver: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Runge–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Kutta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RK4(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Runge–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Kutta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4th-order (RK4) method provides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 accuracy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while keeping computation stable, making it ideal for nonlinear and stiff power-electronics models.)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 step: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 µs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Simulated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0.22 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separate models for NADRC vs PI/PID (to stress robustness)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67EB72-33D8-4504-8E39-FC2BA5162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794" y="746679"/>
            <a:ext cx="5826882" cy="909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8BC686-E6A1-AA8D-E79A-AA8065DA2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794" y="1808543"/>
            <a:ext cx="5826882" cy="87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88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552D-3E90-9F95-7474-AB1EE13AE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25B7A0-884C-4E16-2B07-50996BA9312B}"/>
              </a:ext>
            </a:extLst>
          </p:cNvPr>
          <p:cNvSpPr txBox="1"/>
          <p:nvPr/>
        </p:nvSpPr>
        <p:spPr>
          <a:xfrm>
            <a:off x="885038" y="402564"/>
            <a:ext cx="60987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Key Results and Interpretation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26447-0543-6F59-CA21-C515FE876E00}"/>
              </a:ext>
            </a:extLst>
          </p:cNvPr>
          <p:cNvSpPr txBox="1"/>
          <p:nvPr/>
        </p:nvSpPr>
        <p:spPr>
          <a:xfrm>
            <a:off x="750813" y="1065131"/>
            <a:ext cx="3997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.Startup (0–0.11 s):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NADRC reaches 48 V fastest; PI/PID show undershoot and slower settling.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822EB-C507-AF96-05A8-6CBADBE84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522" y="78402"/>
            <a:ext cx="5176261" cy="29948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A99BA6-4AFB-B5A5-7CC9-9E076FAA9B9A}"/>
              </a:ext>
            </a:extLst>
          </p:cNvPr>
          <p:cNvSpPr txBox="1"/>
          <p:nvPr/>
        </p:nvSpPr>
        <p:spPr>
          <a:xfrm>
            <a:off x="750813" y="3731517"/>
            <a:ext cx="4808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2.Input step (0.12 s):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Smallest deviation: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NADRC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 &amp; PID → higher ripple and slower return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288BC7-57DF-F8FE-09C0-5458BDB15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523" y="3545298"/>
            <a:ext cx="5176260" cy="31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00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289D-AF6C-736B-8438-8920C3BA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A1B986-067F-06B9-96BB-D536B32011C1}"/>
              </a:ext>
            </a:extLst>
          </p:cNvPr>
          <p:cNvSpPr txBox="1"/>
          <p:nvPr/>
        </p:nvSpPr>
        <p:spPr>
          <a:xfrm>
            <a:off x="843094" y="192676"/>
            <a:ext cx="6098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3.Output step (0.16 s):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NADRC: fastest recovery, minimal oscillation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PI &amp; PID: oscillatory, larger voltage dip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BE161C-E031-08A3-B9B4-ABB0EC92F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43" y="1116006"/>
            <a:ext cx="6308521" cy="339083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1C5724F-D941-2F53-15A9-BE0AC7697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097748"/>
              </p:ext>
            </p:extLst>
          </p:nvPr>
        </p:nvGraphicFramePr>
        <p:xfrm>
          <a:off x="649224" y="4784590"/>
          <a:ext cx="8557840" cy="1737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94245">
                  <a:extLst>
                    <a:ext uri="{9D8B030D-6E8A-4147-A177-3AD203B41FA5}">
                      <a16:colId xmlns:a16="http://schemas.microsoft.com/office/drawing/2014/main" val="3169996369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268798906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498486643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1933034400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3646811273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819087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Controller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IAE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ITAE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Settling Time (s)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Voltage (V)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Overshoot (%)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199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ADRC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225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675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530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248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F4AAC-AFC5-9C60-8ADE-1208C2E4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E783D-D8F1-3C12-1985-A42EDEADF7EE}"/>
              </a:ext>
            </a:extLst>
          </p:cNvPr>
          <p:cNvSpPr txBox="1"/>
          <p:nvPr/>
        </p:nvSpPr>
        <p:spPr>
          <a:xfrm>
            <a:off x="826315" y="619866"/>
            <a:ext cx="997031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What I Have Done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three different systems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nonlinear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SEPIC DC–DC converter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practical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Buck converter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Thermal temperature control system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each modeled using state-space equations and simulated with RK4.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Designed and compared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N-ADRC, PI, and PID controllers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across all three plants, including ESO design, tracking differentiator, and full disturbance modelling.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realistic disturbances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input/output voltage steps, load variations, thermal heat flux changes, sensor noise, and parameter uncertainty for rigorous testing.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23B81-D7C3-5EB4-D0D6-8EF8835C8875}"/>
              </a:ext>
            </a:extLst>
          </p:cNvPr>
          <p:cNvSpPr txBox="1"/>
          <p:nvPr/>
        </p:nvSpPr>
        <p:spPr>
          <a:xfrm>
            <a:off x="859871" y="3341772"/>
            <a:ext cx="990320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Why I Have Done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study how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N-ADRC performs under different classes of systems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Power conversion (Buck, SEPIC)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→ fast, nonlinear, disturbance-sensitive.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Thermal process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→ slow dynamics, large time constants, disturbance-driven.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These systems together test ADRC across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slow, medium, and fast dynamics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proving its model-independent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Traditional PI/PID struggle with sudden disturbances, nonlinearities, and parameter drift; ADRC is expected to handle these better.</a:t>
            </a:r>
          </a:p>
        </p:txBody>
      </p:sp>
    </p:spTree>
    <p:extLst>
      <p:ext uri="{BB962C8B-B14F-4D97-AF65-F5344CB8AC3E}">
        <p14:creationId xmlns:p14="http://schemas.microsoft.com/office/powerpoint/2010/main" val="4014205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3946-EC3C-9846-B43E-DB406395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CA364C-DC6D-C48C-25D3-80DE683B414E}"/>
              </a:ext>
            </a:extLst>
          </p:cNvPr>
          <p:cNvSpPr txBox="1"/>
          <p:nvPr/>
        </p:nvSpPr>
        <p:spPr>
          <a:xfrm>
            <a:off x="557868" y="535651"/>
            <a:ext cx="113545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What This Project Achieves</a:t>
            </a:r>
          </a:p>
          <a:p>
            <a:pPr>
              <a:buNone/>
            </a:pP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Demonstrates that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N-ADRC consistently outperforms PI/PID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 all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Buck: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smoother voltage, faster settling, minimal oscillation.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SEPIC: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strongest disturbance rejection under harsh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Thermal: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lowest steady-state error and best tracking with large thermal lag.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Provides a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complete cross-domain validation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showing ADRC’s universality across electrical and thermal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Delivers a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fully validated simulation framework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usable for real hardware: accurate models, aggressive control design, and quantitative error-based comparison.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F4CFA-B489-ED50-9082-E90EE4C23E7B}"/>
              </a:ext>
            </a:extLst>
          </p:cNvPr>
          <p:cNvSpPr txBox="1"/>
          <p:nvPr/>
        </p:nvSpPr>
        <p:spPr>
          <a:xfrm>
            <a:off x="557868" y="3821256"/>
            <a:ext cx="1087213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Overall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unified demonstration that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N-ADRC is a superior, robust, and disturbance-tolerant control strategy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applicable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real-world systems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not just one converter.</a:t>
            </a:r>
          </a:p>
        </p:txBody>
      </p:sp>
    </p:spTree>
    <p:extLst>
      <p:ext uri="{BB962C8B-B14F-4D97-AF65-F5344CB8AC3E}">
        <p14:creationId xmlns:p14="http://schemas.microsoft.com/office/powerpoint/2010/main" val="2492008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134A-6987-2403-A447-2EC2DCDC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B0836-4304-2A57-7BA4-45CF7537441E}"/>
              </a:ext>
            </a:extLst>
          </p:cNvPr>
          <p:cNvSpPr txBox="1"/>
          <p:nvPr/>
        </p:nvSpPr>
        <p:spPr>
          <a:xfrm>
            <a:off x="608200" y="326251"/>
            <a:ext cx="965992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Plans:</a:t>
            </a:r>
          </a:p>
          <a:p>
            <a:endParaRPr lang="en-IN" sz="32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</a:t>
            </a:r>
            <a:r>
              <a:rPr lang="en-IN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MIMO Extension</a:t>
            </a:r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Extend the hybrid DOB-ADRC architecture to Multi-InputMulti-Output (MIMO) systems with coupled dynamics for more complex applications.</a:t>
            </a:r>
          </a:p>
          <a:p>
            <a:endParaRPr lang="en-IN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• </a:t>
            </a:r>
            <a:r>
              <a:rPr lang="en-IN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Adaptive Tuning</a:t>
            </a:r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Investigate online adaptive tuning techniques for the </a:t>
            </a:r>
            <a:r>
              <a:rPr lang="en-IN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Luenberger</a:t>
            </a:r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observer gains to handle time-varying system parameters.</a:t>
            </a:r>
          </a:p>
          <a:p>
            <a:endParaRPr lang="en-IN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successful simulation results provide a strong foundation for further development</a:t>
            </a:r>
          </a:p>
          <a:p>
            <a:r>
              <a:rPr lang="en-IN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 practical implementation of the proposed control strategy, promising significant          improvements in control performance across various engineering domains.</a:t>
            </a:r>
          </a:p>
        </p:txBody>
      </p:sp>
    </p:spTree>
    <p:extLst>
      <p:ext uri="{BB962C8B-B14F-4D97-AF65-F5344CB8AC3E}">
        <p14:creationId xmlns:p14="http://schemas.microsoft.com/office/powerpoint/2010/main" val="2996315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61E1-5E4E-44E3-F22C-7E5146BF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D56E0-D208-D131-E42A-637623863C02}"/>
              </a:ext>
            </a:extLst>
          </p:cNvPr>
          <p:cNvSpPr txBox="1"/>
          <p:nvPr/>
        </p:nvSpPr>
        <p:spPr>
          <a:xfrm>
            <a:off x="3720517" y="2634035"/>
            <a:ext cx="60987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0784055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959</TotalTime>
  <Words>2918</Words>
  <Application>Microsoft Office PowerPoint</Application>
  <PresentationFormat>Widescreen</PresentationFormat>
  <Paragraphs>477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RATAN KUMAR</dc:creator>
  <cp:lastModifiedBy>RATAN KUMAR</cp:lastModifiedBy>
  <cp:revision>43</cp:revision>
  <dcterms:created xsi:type="dcterms:W3CDTF">2025-10-15T12:37:11Z</dcterms:created>
  <dcterms:modified xsi:type="dcterms:W3CDTF">2025-12-03T18:16:00Z</dcterms:modified>
</cp:coreProperties>
</file>